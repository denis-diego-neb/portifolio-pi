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media/image2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18288000" cy="10287000"/>
  <p:notesSz cx="6858000" cy="9144000"/>
  <p:embeddedFontLst>
    <p:embeddedFont>
      <p:font typeface="Montserrat Bold" panose="00000800000000000000"/>
      <p:bold r:id="rId28"/>
    </p:embeddedFont>
    <p:embeddedFont>
      <p:font typeface="Poppins" panose="00000500000000000000"/>
      <p:regular r:id="rId29"/>
    </p:embeddedFont>
    <p:embeddedFont>
      <p:font typeface="Calibri" panose="020F0502020204030204" charset="0"/>
      <p:regular r:id="rId30"/>
      <p:bold r:id="rId31"/>
      <p:italic r:id="rId32"/>
      <p:boldItalic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3" Type="http://schemas.openxmlformats.org/officeDocument/2006/relationships/font" Target="fonts/font6.fntdata"/><Relationship Id="rId32" Type="http://schemas.openxmlformats.org/officeDocument/2006/relationships/font" Target="fonts/font5.fntdata"/><Relationship Id="rId31" Type="http://schemas.openxmlformats.org/officeDocument/2006/relationships/font" Target="fonts/font4.fntdata"/><Relationship Id="rId30" Type="http://schemas.openxmlformats.org/officeDocument/2006/relationships/font" Target="fonts/font3.fntdata"/><Relationship Id="rId3" Type="http://schemas.openxmlformats.org/officeDocument/2006/relationships/slide" Target="slides/slide1.xml"/><Relationship Id="rId29" Type="http://schemas.openxmlformats.org/officeDocument/2006/relationships/font" Target="fonts/font2.fntdata"/><Relationship Id="rId28" Type="http://schemas.openxmlformats.org/officeDocument/2006/relationships/font" Target="fonts/font1.fntdata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svg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svg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jpeg"/><Relationship Id="rId2" Type="http://schemas.openxmlformats.org/officeDocument/2006/relationships/image" Target="../media/image2.svg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jpeg"/><Relationship Id="rId2" Type="http://schemas.openxmlformats.org/officeDocument/2006/relationships/image" Target="../media/image2.svg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jpeg"/><Relationship Id="rId2" Type="http://schemas.openxmlformats.org/officeDocument/2006/relationships/image" Target="../media/image2.svg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7.jpeg"/><Relationship Id="rId2" Type="http://schemas.openxmlformats.org/officeDocument/2006/relationships/image" Target="../media/image2.svg"/><Relationship Id="rId1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.jpeg"/><Relationship Id="rId2" Type="http://schemas.openxmlformats.org/officeDocument/2006/relationships/image" Target="../media/image2.svg"/><Relationship Id="rId1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9.jpeg"/><Relationship Id="rId2" Type="http://schemas.openxmlformats.org/officeDocument/2006/relationships/image" Target="../media/image2.svg"/><Relationship Id="rId1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svg"/><Relationship Id="rId1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svg"/><Relationship Id="rId1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svg"/><Relationship Id="rId1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sv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38800" y="0"/>
            <a:ext cx="11514352" cy="11535325"/>
          </a:xfrm>
          <a:custGeom>
            <a:avLst/>
            <a:gdLst/>
            <a:ahLst/>
            <a:cxnLst/>
            <a:rect l="l" t="t" r="r" b="b"/>
            <a:pathLst>
              <a:path w="11514352" h="11535325">
                <a:moveTo>
                  <a:pt x="0" y="0"/>
                </a:moveTo>
                <a:lnTo>
                  <a:pt x="11514351" y="0"/>
                </a:lnTo>
                <a:lnTo>
                  <a:pt x="11514351" y="11535325"/>
                </a:lnTo>
                <a:lnTo>
                  <a:pt x="0" y="1153532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108996" y="2831451"/>
            <a:ext cx="13150304" cy="13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b="1">
                <a:solidFill>
                  <a:srgbClr val="3A7AFE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PROJETO INTEGRADOR I</a:t>
            </a:r>
            <a:endParaRPr lang="en-US" sz="8000" b="1">
              <a:solidFill>
                <a:srgbClr val="3A7AFE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4930676" y="4241800"/>
            <a:ext cx="11506944" cy="901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Site Portifólio - Fabiana Jora</a:t>
            </a:r>
            <a:endParaRPr lang="en-US" sz="50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2836523" y="7262904"/>
            <a:ext cx="2036564" cy="727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  <a:spcBef>
                <a:spcPct val="0"/>
              </a:spcBef>
            </a:pPr>
            <a:r>
              <a:rPr lang="en-US" sz="40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Grupo 6</a:t>
            </a:r>
            <a:endParaRPr lang="en-US" sz="40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403169" y="1028700"/>
            <a:ext cx="11514352" cy="11535325"/>
          </a:xfrm>
          <a:custGeom>
            <a:avLst/>
            <a:gdLst/>
            <a:ahLst/>
            <a:cxnLst/>
            <a:rect l="l" t="t" r="r" b="b"/>
            <a:pathLst>
              <a:path w="11514352" h="11535325">
                <a:moveTo>
                  <a:pt x="0" y="0"/>
                </a:moveTo>
                <a:lnTo>
                  <a:pt x="11514351" y="0"/>
                </a:lnTo>
                <a:lnTo>
                  <a:pt x="11514351" y="11535325"/>
                </a:lnTo>
                <a:lnTo>
                  <a:pt x="0" y="1153532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4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260752" y="4290057"/>
            <a:ext cx="12998548" cy="4115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•Cliente: Fabiana Jora</a:t>
            </a:r>
            <a:endParaRPr lang="en-US" sz="26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3640"/>
              </a:lnSpc>
            </a:pPr>
          </a:p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•Grupo: Aline Guilhoto, Denis Diego Brandão da Cunha, Gabriel Siqueira Magalhães, Guilherme Afonso e Leonardo Marson Coral</a:t>
            </a:r>
            <a:endParaRPr lang="en-US" sz="26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3640"/>
              </a:lnSpc>
            </a:pPr>
          </a:p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•Instituição: FATEC Araras – Antonio Brambilla</a:t>
            </a:r>
            <a:endParaRPr lang="en-US" sz="26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3640"/>
              </a:lnSpc>
            </a:pPr>
          </a:p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•Data: 2025</a:t>
            </a:r>
            <a:endParaRPr lang="en-US" sz="26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3640"/>
              </a:lnSpc>
            </a:pPr>
          </a:p>
        </p:txBody>
      </p:sp>
      <p:sp>
        <p:nvSpPr>
          <p:cNvPr id="4" name="TextBox 4"/>
          <p:cNvSpPr txBox="1"/>
          <p:nvPr/>
        </p:nvSpPr>
        <p:spPr>
          <a:xfrm>
            <a:off x="3529788" y="1461433"/>
            <a:ext cx="11228423" cy="745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 b="1">
                <a:solidFill>
                  <a:srgbClr val="3A7AFE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Espaço Fabiana Jora: Portfólio Digital </a:t>
            </a:r>
            <a:endParaRPr lang="en-US" sz="4400" b="1">
              <a:solidFill>
                <a:srgbClr val="3A7AFE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3626548" y="2477615"/>
            <a:ext cx="11034903" cy="1099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1">
                <a:solidFill>
                  <a:srgbClr val="3A7AFE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Projeto Integrador I - Desenvolvimento de Software Multiplataforma</a:t>
            </a:r>
            <a:endParaRPr lang="en-US" sz="3200" b="1">
              <a:solidFill>
                <a:srgbClr val="3A7AFE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403169" y="1028700"/>
            <a:ext cx="11514352" cy="11535325"/>
          </a:xfrm>
          <a:custGeom>
            <a:avLst/>
            <a:gdLst/>
            <a:ahLst/>
            <a:cxnLst/>
            <a:rect l="l" t="t" r="r" b="b"/>
            <a:pathLst>
              <a:path w="11514352" h="11535325">
                <a:moveTo>
                  <a:pt x="0" y="0"/>
                </a:moveTo>
                <a:lnTo>
                  <a:pt x="11514351" y="0"/>
                </a:lnTo>
                <a:lnTo>
                  <a:pt x="11514351" y="11535325"/>
                </a:lnTo>
                <a:lnTo>
                  <a:pt x="0" y="1153532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4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473640" y="1963821"/>
            <a:ext cx="15340719" cy="745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 b="1">
                <a:solidFill>
                  <a:srgbClr val="3A7AFE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Identificação do problema</a:t>
            </a:r>
            <a:endParaRPr lang="en-US" sz="4400" b="1">
              <a:solidFill>
                <a:srgbClr val="3A7AFE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3291721" y="3987896"/>
            <a:ext cx="13638922" cy="3658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0" lvl="1" indent="-280670" algn="just">
              <a:lnSpc>
                <a:spcPts val="3640"/>
              </a:lnSpc>
              <a:buFont typeface="Arial" panose="020B0604020202020204"/>
              <a:buChar char="•"/>
            </a:pPr>
            <a:r>
              <a:rPr lang="en-US" sz="26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Ausência de presença digital estruturada</a:t>
            </a:r>
            <a:endParaRPr lang="en-US" sz="26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3640"/>
              </a:lnSpc>
            </a:pPr>
          </a:p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Fabiana atua em Massoterapia, Enfermagem e LIBRAS, mas não tinha um espaço online unificado.</a:t>
            </a:r>
            <a:endParaRPr lang="en-US" sz="26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3640"/>
              </a:lnSpc>
            </a:pPr>
          </a:p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Resultado: dificuldade de divulgação e captação de clientes.</a:t>
            </a:r>
            <a:endParaRPr lang="en-US" sz="26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3640"/>
              </a:lnSpc>
            </a:pPr>
          </a:p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Solução: criar um portfólio digital funcional e centralizado.</a:t>
            </a:r>
            <a:endParaRPr lang="en-US" sz="26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403169" y="1028700"/>
            <a:ext cx="11514352" cy="11535325"/>
          </a:xfrm>
          <a:custGeom>
            <a:avLst/>
            <a:gdLst/>
            <a:ahLst/>
            <a:cxnLst/>
            <a:rect l="l" t="t" r="r" b="b"/>
            <a:pathLst>
              <a:path w="11514352" h="11535325">
                <a:moveTo>
                  <a:pt x="0" y="0"/>
                </a:moveTo>
                <a:lnTo>
                  <a:pt x="11514351" y="0"/>
                </a:lnTo>
                <a:lnTo>
                  <a:pt x="11514351" y="11535325"/>
                </a:lnTo>
                <a:lnTo>
                  <a:pt x="0" y="1153532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4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473640" y="1489707"/>
            <a:ext cx="15340719" cy="745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 b="1">
                <a:solidFill>
                  <a:srgbClr val="3A7AFE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Objetivos</a:t>
            </a:r>
            <a:endParaRPr lang="en-US" sz="4400" b="1">
              <a:solidFill>
                <a:srgbClr val="3A7AFE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3755410" y="2934533"/>
            <a:ext cx="12113914" cy="5029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Objetivo Geral: </a:t>
            </a:r>
            <a:endParaRPr lang="en-US" sz="26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3640"/>
              </a:lnSpc>
            </a:pPr>
          </a:p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Desenvolver um site responsivo e acessível para apresentar os serviços.</a:t>
            </a:r>
            <a:endParaRPr lang="en-US" sz="26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3640"/>
              </a:lnSpc>
            </a:pPr>
          </a:p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Objetivos Específicos:</a:t>
            </a:r>
            <a:endParaRPr lang="en-US" sz="26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3640"/>
              </a:lnSpc>
            </a:pPr>
          </a:p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– Criar 5 páginas principais</a:t>
            </a:r>
            <a:endParaRPr lang="en-US" sz="26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– Exibir serviços detalhados</a:t>
            </a:r>
            <a:endParaRPr lang="en-US" sz="26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– Botões WhatsApp com mensagens prontas</a:t>
            </a:r>
            <a:endParaRPr lang="en-US" sz="26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– Garantir responsividade e acessibilidade</a:t>
            </a:r>
            <a:endParaRPr lang="en-US" sz="26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– Documentar o processo</a:t>
            </a:r>
            <a:endParaRPr lang="en-US" sz="26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403169" y="1028700"/>
            <a:ext cx="11514352" cy="11535325"/>
          </a:xfrm>
          <a:custGeom>
            <a:avLst/>
            <a:gdLst/>
            <a:ahLst/>
            <a:cxnLst/>
            <a:rect l="l" t="t" r="r" b="b"/>
            <a:pathLst>
              <a:path w="11514352" h="11535325">
                <a:moveTo>
                  <a:pt x="0" y="0"/>
                </a:moveTo>
                <a:lnTo>
                  <a:pt x="11514351" y="0"/>
                </a:lnTo>
                <a:lnTo>
                  <a:pt x="11514351" y="11535325"/>
                </a:lnTo>
                <a:lnTo>
                  <a:pt x="0" y="1153532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4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303996" y="1574529"/>
            <a:ext cx="15340719" cy="745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 b="1">
                <a:solidFill>
                  <a:srgbClr val="3A7AFE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Escopo</a:t>
            </a:r>
            <a:endParaRPr lang="en-US" sz="4400" b="1">
              <a:solidFill>
                <a:srgbClr val="3A7AFE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4677637" y="2877985"/>
            <a:ext cx="10179141" cy="5029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Entregas:</a:t>
            </a:r>
            <a:endParaRPr lang="en-US" sz="26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3640"/>
              </a:lnSpc>
            </a:pPr>
          </a:p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– </a:t>
            </a:r>
            <a:r>
              <a:rPr lang="en-US" sz="26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Site estático com 5 páginas</a:t>
            </a:r>
            <a:endParaRPr lang="en-US" sz="26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3640"/>
              </a:lnSpc>
            </a:pPr>
          </a:p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– Portfólio + depoimentos</a:t>
            </a:r>
            <a:endParaRPr lang="en-US" sz="26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3640"/>
              </a:lnSpc>
            </a:pPr>
          </a:p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– Links funcionais e responsividade</a:t>
            </a:r>
            <a:endParaRPr lang="en-US" sz="26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3640"/>
              </a:lnSpc>
            </a:pPr>
          </a:p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– Imagens otimizadas</a:t>
            </a:r>
            <a:endParaRPr lang="en-US" sz="26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3640"/>
              </a:lnSpc>
            </a:pPr>
          </a:p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– Código organizado e deploy no GitHub Pages e Infinityfree</a:t>
            </a:r>
            <a:endParaRPr lang="en-US" sz="26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403169" y="1028700"/>
            <a:ext cx="11514352" cy="11535325"/>
          </a:xfrm>
          <a:custGeom>
            <a:avLst/>
            <a:gdLst/>
            <a:ahLst/>
            <a:cxnLst/>
            <a:rect l="l" t="t" r="r" b="b"/>
            <a:pathLst>
              <a:path w="11514352" h="11535325">
                <a:moveTo>
                  <a:pt x="0" y="0"/>
                </a:moveTo>
                <a:lnTo>
                  <a:pt x="11514351" y="0"/>
                </a:lnTo>
                <a:lnTo>
                  <a:pt x="11514351" y="11535325"/>
                </a:lnTo>
                <a:lnTo>
                  <a:pt x="0" y="1153532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4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473640" y="1348337"/>
            <a:ext cx="15340719" cy="745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 b="1">
                <a:solidFill>
                  <a:srgbClr val="3A7AFE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Organização e Metodologia</a:t>
            </a:r>
            <a:endParaRPr lang="en-US" sz="4400" b="1">
              <a:solidFill>
                <a:srgbClr val="3A7AFE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719370" y="2595245"/>
            <a:ext cx="13775859" cy="5029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Cronograma: levantamento, protótipo, desenvolvimento, testes e documentação.</a:t>
            </a:r>
            <a:endParaRPr lang="en-US" sz="26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3640"/>
              </a:lnSpc>
            </a:pPr>
          </a:p>
          <a:p>
            <a:pPr algn="just">
              <a:lnSpc>
                <a:spcPts val="3640"/>
              </a:lnSpc>
            </a:pPr>
          </a:p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Distribuição de Tarefas:</a:t>
            </a:r>
            <a:endParaRPr lang="en-US" sz="26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3640"/>
              </a:lnSpc>
            </a:pPr>
          </a:p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•Gerência de Projeto: Aline (Contato com Cliente, Validação)</a:t>
            </a:r>
            <a:endParaRPr lang="en-US" sz="26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•Desenvolvimento Front-End: Gabriel, Aline, Denis e Leonardo</a:t>
            </a:r>
            <a:endParaRPr lang="en-US" sz="26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•Design / UX: Aline e Guilherme (Wireframes, Paleta, Tipografia)</a:t>
            </a:r>
            <a:endParaRPr lang="en-US" sz="26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•QA / Testes: Gabriel e Aline (Testes, Revisão Ortográfica)</a:t>
            </a:r>
            <a:endParaRPr lang="en-US" sz="26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3640"/>
              </a:lnSpc>
            </a:pPr>
          </a:p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Metodologia: Prototipação Evolutiva, com validações contínuas.</a:t>
            </a:r>
            <a:endParaRPr lang="en-US" sz="26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403169" y="1028700"/>
            <a:ext cx="11514352" cy="11535325"/>
          </a:xfrm>
          <a:custGeom>
            <a:avLst/>
            <a:gdLst/>
            <a:ahLst/>
            <a:cxnLst/>
            <a:rect l="l" t="t" r="r" b="b"/>
            <a:pathLst>
              <a:path w="11514352" h="11535325">
                <a:moveTo>
                  <a:pt x="0" y="0"/>
                </a:moveTo>
                <a:lnTo>
                  <a:pt x="11514351" y="0"/>
                </a:lnTo>
                <a:lnTo>
                  <a:pt x="11514351" y="11535325"/>
                </a:lnTo>
                <a:lnTo>
                  <a:pt x="0" y="1153532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4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473640" y="1744173"/>
            <a:ext cx="15340719" cy="745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 b="1">
                <a:solidFill>
                  <a:srgbClr val="3A7AFE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Stack de Ferramentas Colaborativas</a:t>
            </a:r>
            <a:endParaRPr lang="en-US" sz="4400" b="1">
              <a:solidFill>
                <a:srgbClr val="3A7AFE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721203" y="3590544"/>
            <a:ext cx="13855183" cy="4572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•Design/Protótipo: Figma (Wireframes) e Photopea (Edição de Imagens).</a:t>
            </a:r>
            <a:endParaRPr lang="en-US" sz="26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3640"/>
              </a:lnSpc>
            </a:pPr>
          </a:p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•Controle de Versão: Git e GitHub (Versionamento Contínuo, Branches por Feature).</a:t>
            </a:r>
            <a:endParaRPr lang="en-US" sz="26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3640"/>
              </a:lnSpc>
            </a:pPr>
          </a:p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•Hospedagem: GitHub Pages e Infinityfree (Soluções gratuitas para sites estáticos).</a:t>
            </a:r>
            <a:endParaRPr lang="en-US" sz="26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3640"/>
              </a:lnSpc>
            </a:pPr>
          </a:p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•Editor de Código: Visual Studio Code.</a:t>
            </a:r>
            <a:endParaRPr lang="en-US" sz="26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3640"/>
              </a:lnSpc>
            </a:pPr>
          </a:p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•Comunicação: WhatsApp.</a:t>
            </a:r>
            <a:endParaRPr lang="en-US" sz="26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3640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73640" y="1772447"/>
            <a:ext cx="15340719" cy="745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 b="1">
                <a:solidFill>
                  <a:srgbClr val="3A7AFE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Requisitos Funcionais</a:t>
            </a:r>
            <a:endParaRPr lang="en-US" sz="4400" b="1">
              <a:solidFill>
                <a:srgbClr val="3A7AFE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4665537" y="3640776"/>
            <a:ext cx="8956925" cy="4115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Navegação entre as 5 páginas.</a:t>
            </a:r>
            <a:endParaRPr lang="en-US" sz="26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3640"/>
              </a:lnSpc>
            </a:pPr>
          </a:p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Exibição detalhada de serviços e imagens.</a:t>
            </a:r>
            <a:endParaRPr lang="en-US" sz="26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3640"/>
              </a:lnSpc>
            </a:pPr>
          </a:p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Links de redirecionamento para redes sociais.</a:t>
            </a:r>
            <a:endParaRPr lang="en-US" sz="26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3640"/>
              </a:lnSpc>
            </a:pPr>
          </a:p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Menu fixo e rodapé com informações de contato.</a:t>
            </a:r>
            <a:endParaRPr lang="en-US" sz="26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3640"/>
              </a:lnSpc>
            </a:pPr>
          </a:p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Hospedagem gratuita.</a:t>
            </a:r>
            <a:endParaRPr lang="en-US" sz="26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-1403169" y="1028700"/>
            <a:ext cx="11514352" cy="11535325"/>
          </a:xfrm>
          <a:custGeom>
            <a:avLst/>
            <a:gdLst/>
            <a:ahLst/>
            <a:cxnLst/>
            <a:rect l="l" t="t" r="r" b="b"/>
            <a:pathLst>
              <a:path w="11514352" h="11535325">
                <a:moveTo>
                  <a:pt x="0" y="0"/>
                </a:moveTo>
                <a:lnTo>
                  <a:pt x="11514351" y="0"/>
                </a:lnTo>
                <a:lnTo>
                  <a:pt x="11514351" y="11535325"/>
                </a:lnTo>
                <a:lnTo>
                  <a:pt x="0" y="1153532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4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403169" y="1028700"/>
            <a:ext cx="11514352" cy="11535325"/>
          </a:xfrm>
          <a:custGeom>
            <a:avLst/>
            <a:gdLst/>
            <a:ahLst/>
            <a:cxnLst/>
            <a:rect l="l" t="t" r="r" b="b"/>
            <a:pathLst>
              <a:path w="11514352" h="11535325">
                <a:moveTo>
                  <a:pt x="0" y="0"/>
                </a:moveTo>
                <a:lnTo>
                  <a:pt x="11514351" y="0"/>
                </a:lnTo>
                <a:lnTo>
                  <a:pt x="11514351" y="11535325"/>
                </a:lnTo>
                <a:lnTo>
                  <a:pt x="0" y="1153532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4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473640" y="1772447"/>
            <a:ext cx="15340719" cy="745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 b="1">
                <a:solidFill>
                  <a:srgbClr val="3A7AFE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Requisitos Não Funcionais </a:t>
            </a:r>
            <a:endParaRPr lang="en-US" sz="4400" b="1">
              <a:solidFill>
                <a:srgbClr val="3A7AFE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4144299" y="3445874"/>
            <a:ext cx="10554674" cy="4572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Usabilidade: Interface simples e intuitiva.</a:t>
            </a:r>
            <a:endParaRPr lang="en-US" sz="26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3640"/>
              </a:lnSpc>
            </a:pPr>
          </a:p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Desempenho: Carregamento rápido (&lt; 3 segundos).</a:t>
            </a:r>
            <a:endParaRPr lang="en-US" sz="26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3640"/>
              </a:lnSpc>
            </a:pPr>
          </a:p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Compatibilidade: Funcionamento nos principais navegadores.</a:t>
            </a:r>
            <a:endParaRPr lang="en-US" sz="26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3640"/>
              </a:lnSpc>
            </a:pPr>
          </a:p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Responsividade: Adaptação a diferentes dispositivos.</a:t>
            </a:r>
            <a:endParaRPr lang="en-US" sz="26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3640"/>
              </a:lnSpc>
            </a:pPr>
          </a:p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Manutenção: Código limpo e comentado.</a:t>
            </a:r>
            <a:endParaRPr lang="en-US" sz="26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3640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403169" y="1028700"/>
            <a:ext cx="11514352" cy="11535325"/>
          </a:xfrm>
          <a:custGeom>
            <a:avLst/>
            <a:gdLst/>
            <a:ahLst/>
            <a:cxnLst/>
            <a:rect l="l" t="t" r="r" b="b"/>
            <a:pathLst>
              <a:path w="11514352" h="11535325">
                <a:moveTo>
                  <a:pt x="0" y="0"/>
                </a:moveTo>
                <a:lnTo>
                  <a:pt x="11514351" y="0"/>
                </a:lnTo>
                <a:lnTo>
                  <a:pt x="11514351" y="11535325"/>
                </a:lnTo>
                <a:lnTo>
                  <a:pt x="0" y="1153532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4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473640" y="2478701"/>
            <a:ext cx="15340719" cy="745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 b="1">
                <a:solidFill>
                  <a:srgbClr val="3A7AFE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Estudo de Viabilidade</a:t>
            </a:r>
            <a:endParaRPr lang="en-US" sz="4400" b="1">
              <a:solidFill>
                <a:srgbClr val="3A7AFE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3593772" y="4701970"/>
            <a:ext cx="13034821" cy="2286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Técnica: Viável, utilizando ferramentas de fácil acesso e compatíveis com hardware básico.</a:t>
            </a:r>
            <a:endParaRPr lang="en-US" sz="26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3640"/>
              </a:lnSpc>
            </a:pPr>
          </a:p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Econômica: Viável, sem custos diretos (hospedagem, domínio e ferramentas gratuitas).</a:t>
            </a:r>
            <a:endParaRPr lang="en-US" sz="26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403169" y="1028700"/>
            <a:ext cx="11514352" cy="11535325"/>
          </a:xfrm>
          <a:custGeom>
            <a:avLst/>
            <a:gdLst/>
            <a:ahLst/>
            <a:cxnLst/>
            <a:rect l="l" t="t" r="r" b="b"/>
            <a:pathLst>
              <a:path w="11514352" h="11535325">
                <a:moveTo>
                  <a:pt x="0" y="0"/>
                </a:moveTo>
                <a:lnTo>
                  <a:pt x="11514351" y="0"/>
                </a:lnTo>
                <a:lnTo>
                  <a:pt x="11514351" y="11535325"/>
                </a:lnTo>
                <a:lnTo>
                  <a:pt x="0" y="1153532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4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473640" y="2557575"/>
            <a:ext cx="15340719" cy="745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 b="1">
                <a:solidFill>
                  <a:srgbClr val="3A7AFE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Modelagem do Sistema</a:t>
            </a:r>
            <a:endParaRPr lang="en-US" sz="4400" b="1">
              <a:solidFill>
                <a:srgbClr val="3A7AFE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3565262" y="4903343"/>
            <a:ext cx="11792072" cy="2286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• Atores: Usuário Visitante e Cliente (Administradora). </a:t>
            </a:r>
            <a:endParaRPr lang="en-US" sz="26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3640"/>
              </a:lnSpc>
            </a:pPr>
          </a:p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• Casos de Uso: Navegar, Visualizar Serviços, Acessar Redes Sociais. </a:t>
            </a:r>
            <a:endParaRPr lang="en-US" sz="26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3640"/>
              </a:lnSpc>
            </a:pPr>
          </a:p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• Nota: O sistema é estático, focado na apresentação de informações. </a:t>
            </a:r>
            <a:endParaRPr lang="en-US" sz="26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403169" y="1028700"/>
            <a:ext cx="11514352" cy="11535325"/>
          </a:xfrm>
          <a:custGeom>
            <a:avLst/>
            <a:gdLst/>
            <a:ahLst/>
            <a:cxnLst/>
            <a:rect l="l" t="t" r="r" b="b"/>
            <a:pathLst>
              <a:path w="11514352" h="11535325">
                <a:moveTo>
                  <a:pt x="0" y="0"/>
                </a:moveTo>
                <a:lnTo>
                  <a:pt x="11514351" y="0"/>
                </a:lnTo>
                <a:lnTo>
                  <a:pt x="11514351" y="11535325"/>
                </a:lnTo>
                <a:lnTo>
                  <a:pt x="0" y="1153532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4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473640" y="2286616"/>
            <a:ext cx="15340719" cy="745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 b="1">
                <a:solidFill>
                  <a:srgbClr val="3A7AFE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Identidade Visual</a:t>
            </a:r>
            <a:endParaRPr lang="en-US" sz="4400" b="1">
              <a:solidFill>
                <a:srgbClr val="3A7AFE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3593772" y="4443760"/>
            <a:ext cx="13034821" cy="2743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• Construção de Logotipo, Paleta de Cores e Tipografia. </a:t>
            </a:r>
            <a:endParaRPr lang="en-US" sz="26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3640"/>
              </a:lnSpc>
            </a:pPr>
          </a:p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• Aplicação de Princípios de Design (Contraste, Harmonia, Consistência, Acessibilidade). </a:t>
            </a:r>
            <a:endParaRPr lang="en-US" sz="26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3640"/>
              </a:lnSpc>
            </a:pPr>
          </a:p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• Uso de Grid e Layout Responsivo, Limpo e Funcional.</a:t>
            </a:r>
            <a:endParaRPr lang="en-US" sz="26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403169" y="1028700"/>
            <a:ext cx="11514352" cy="11535325"/>
          </a:xfrm>
          <a:custGeom>
            <a:avLst/>
            <a:gdLst/>
            <a:ahLst/>
            <a:cxnLst/>
            <a:rect l="l" t="t" r="r" b="b"/>
            <a:pathLst>
              <a:path w="11514352" h="11535325">
                <a:moveTo>
                  <a:pt x="0" y="0"/>
                </a:moveTo>
                <a:lnTo>
                  <a:pt x="11514351" y="0"/>
                </a:lnTo>
                <a:lnTo>
                  <a:pt x="11514351" y="11535325"/>
                </a:lnTo>
                <a:lnTo>
                  <a:pt x="0" y="1153532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4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144000" y="1028700"/>
            <a:ext cx="5750433" cy="8229600"/>
          </a:xfrm>
          <a:custGeom>
            <a:avLst/>
            <a:gdLst/>
            <a:ahLst/>
            <a:cxnLst/>
            <a:rect l="l" t="t" r="r" b="b"/>
            <a:pathLst>
              <a:path w="5750433" h="8229600">
                <a:moveTo>
                  <a:pt x="0" y="0"/>
                </a:moveTo>
                <a:lnTo>
                  <a:pt x="5750433" y="0"/>
                </a:lnTo>
                <a:lnTo>
                  <a:pt x="575043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910615" y="4398010"/>
            <a:ext cx="5689580" cy="745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 b="1">
                <a:solidFill>
                  <a:srgbClr val="3A7AFE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HandOff</a:t>
            </a:r>
            <a:endParaRPr lang="en-US" sz="4400" b="1">
              <a:solidFill>
                <a:srgbClr val="3A7AFE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403169" y="1028700"/>
            <a:ext cx="11514352" cy="11535325"/>
          </a:xfrm>
          <a:custGeom>
            <a:avLst/>
            <a:gdLst/>
            <a:ahLst/>
            <a:cxnLst/>
            <a:rect l="l" t="t" r="r" b="b"/>
            <a:pathLst>
              <a:path w="11514352" h="11535325">
                <a:moveTo>
                  <a:pt x="0" y="0"/>
                </a:moveTo>
                <a:lnTo>
                  <a:pt x="11514351" y="0"/>
                </a:lnTo>
                <a:lnTo>
                  <a:pt x="11514351" y="11535325"/>
                </a:lnTo>
                <a:lnTo>
                  <a:pt x="0" y="1153532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4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038708" y="2235451"/>
            <a:ext cx="9561315" cy="6485388"/>
          </a:xfrm>
          <a:custGeom>
            <a:avLst/>
            <a:gdLst/>
            <a:ahLst/>
            <a:cxnLst/>
            <a:rect l="l" t="t" r="r" b="b"/>
            <a:pathLst>
              <a:path w="9561315" h="6485388">
                <a:moveTo>
                  <a:pt x="0" y="0"/>
                </a:moveTo>
                <a:lnTo>
                  <a:pt x="9561315" y="0"/>
                </a:lnTo>
                <a:lnTo>
                  <a:pt x="9561315" y="6485388"/>
                </a:lnTo>
                <a:lnTo>
                  <a:pt x="0" y="64853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540434" y="4940300"/>
            <a:ext cx="4684804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1">
                <a:solidFill>
                  <a:srgbClr val="3A7AFE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Wireframe - Home</a:t>
            </a:r>
            <a:endParaRPr lang="en-US" sz="3200" b="1">
              <a:solidFill>
                <a:srgbClr val="3A7AFE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403169" y="1028700"/>
            <a:ext cx="11514352" cy="11535325"/>
          </a:xfrm>
          <a:custGeom>
            <a:avLst/>
            <a:gdLst/>
            <a:ahLst/>
            <a:cxnLst/>
            <a:rect l="l" t="t" r="r" b="b"/>
            <a:pathLst>
              <a:path w="11514352" h="11535325">
                <a:moveTo>
                  <a:pt x="0" y="0"/>
                </a:moveTo>
                <a:lnTo>
                  <a:pt x="11514351" y="0"/>
                </a:lnTo>
                <a:lnTo>
                  <a:pt x="11514351" y="11535325"/>
                </a:lnTo>
                <a:lnTo>
                  <a:pt x="0" y="1153532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4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571008" y="1261074"/>
            <a:ext cx="9688292" cy="7472753"/>
          </a:xfrm>
          <a:custGeom>
            <a:avLst/>
            <a:gdLst/>
            <a:ahLst/>
            <a:cxnLst/>
            <a:rect l="l" t="t" r="r" b="b"/>
            <a:pathLst>
              <a:path w="9688292" h="7472753">
                <a:moveTo>
                  <a:pt x="0" y="0"/>
                </a:moveTo>
                <a:lnTo>
                  <a:pt x="9688292" y="0"/>
                </a:lnTo>
                <a:lnTo>
                  <a:pt x="9688292" y="7472752"/>
                </a:lnTo>
                <a:lnTo>
                  <a:pt x="0" y="74727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540434" y="4565015"/>
            <a:ext cx="4684804" cy="1099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1">
                <a:solidFill>
                  <a:srgbClr val="3A7AFE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Wireframe - Quem Sou</a:t>
            </a:r>
            <a:endParaRPr lang="en-US" sz="3200" b="1">
              <a:solidFill>
                <a:srgbClr val="3A7AFE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403169" y="1028700"/>
            <a:ext cx="11514352" cy="11535325"/>
          </a:xfrm>
          <a:custGeom>
            <a:avLst/>
            <a:gdLst/>
            <a:ahLst/>
            <a:cxnLst/>
            <a:rect l="l" t="t" r="r" b="b"/>
            <a:pathLst>
              <a:path w="11514352" h="11535325">
                <a:moveTo>
                  <a:pt x="0" y="0"/>
                </a:moveTo>
                <a:lnTo>
                  <a:pt x="11514351" y="0"/>
                </a:lnTo>
                <a:lnTo>
                  <a:pt x="11514351" y="11535325"/>
                </a:lnTo>
                <a:lnTo>
                  <a:pt x="0" y="1153532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4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185638" y="1028700"/>
            <a:ext cx="9073662" cy="8229600"/>
          </a:xfrm>
          <a:custGeom>
            <a:avLst/>
            <a:gdLst/>
            <a:ahLst/>
            <a:cxnLst/>
            <a:rect l="l" t="t" r="r" b="b"/>
            <a:pathLst>
              <a:path w="9073662" h="8229600">
                <a:moveTo>
                  <a:pt x="0" y="0"/>
                </a:moveTo>
                <a:lnTo>
                  <a:pt x="9073662" y="0"/>
                </a:lnTo>
                <a:lnTo>
                  <a:pt x="907366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540434" y="4565015"/>
            <a:ext cx="4684804" cy="1099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1">
                <a:solidFill>
                  <a:srgbClr val="3A7AFE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Wireframe - Massoterapia</a:t>
            </a:r>
            <a:endParaRPr lang="en-US" sz="3200" b="1">
              <a:solidFill>
                <a:srgbClr val="3A7AFE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403169" y="1028700"/>
            <a:ext cx="11514352" cy="11535325"/>
          </a:xfrm>
          <a:custGeom>
            <a:avLst/>
            <a:gdLst/>
            <a:ahLst/>
            <a:cxnLst/>
            <a:rect l="l" t="t" r="r" b="b"/>
            <a:pathLst>
              <a:path w="11514352" h="11535325">
                <a:moveTo>
                  <a:pt x="0" y="0"/>
                </a:moveTo>
                <a:lnTo>
                  <a:pt x="11514351" y="0"/>
                </a:lnTo>
                <a:lnTo>
                  <a:pt x="11514351" y="11535325"/>
                </a:lnTo>
                <a:lnTo>
                  <a:pt x="0" y="1153532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4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646768" y="1905791"/>
            <a:ext cx="9612532" cy="6475419"/>
          </a:xfrm>
          <a:custGeom>
            <a:avLst/>
            <a:gdLst/>
            <a:ahLst/>
            <a:cxnLst/>
            <a:rect l="l" t="t" r="r" b="b"/>
            <a:pathLst>
              <a:path w="9612532" h="6475419">
                <a:moveTo>
                  <a:pt x="0" y="0"/>
                </a:moveTo>
                <a:lnTo>
                  <a:pt x="9612532" y="0"/>
                </a:lnTo>
                <a:lnTo>
                  <a:pt x="9612532" y="6475418"/>
                </a:lnTo>
                <a:lnTo>
                  <a:pt x="0" y="64754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540434" y="4565015"/>
            <a:ext cx="4684804" cy="1099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1">
                <a:solidFill>
                  <a:srgbClr val="3A7AFE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Wireframe - Enfermagem</a:t>
            </a:r>
            <a:endParaRPr lang="en-US" sz="3200" b="1">
              <a:solidFill>
                <a:srgbClr val="3A7AFE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403169" y="1028700"/>
            <a:ext cx="11514352" cy="11535325"/>
          </a:xfrm>
          <a:custGeom>
            <a:avLst/>
            <a:gdLst/>
            <a:ahLst/>
            <a:cxnLst/>
            <a:rect l="l" t="t" r="r" b="b"/>
            <a:pathLst>
              <a:path w="11514352" h="11535325">
                <a:moveTo>
                  <a:pt x="0" y="0"/>
                </a:moveTo>
                <a:lnTo>
                  <a:pt x="11514351" y="0"/>
                </a:lnTo>
                <a:lnTo>
                  <a:pt x="11514351" y="11535325"/>
                </a:lnTo>
                <a:lnTo>
                  <a:pt x="0" y="1153532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4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646768" y="1905791"/>
            <a:ext cx="9612532" cy="6475419"/>
          </a:xfrm>
          <a:custGeom>
            <a:avLst/>
            <a:gdLst/>
            <a:ahLst/>
            <a:cxnLst/>
            <a:rect l="l" t="t" r="r" b="b"/>
            <a:pathLst>
              <a:path w="9612532" h="6475419">
                <a:moveTo>
                  <a:pt x="0" y="0"/>
                </a:moveTo>
                <a:lnTo>
                  <a:pt x="9612532" y="0"/>
                </a:lnTo>
                <a:lnTo>
                  <a:pt x="9612532" y="6475418"/>
                </a:lnTo>
                <a:lnTo>
                  <a:pt x="0" y="64754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540434" y="4565015"/>
            <a:ext cx="4684804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1">
                <a:solidFill>
                  <a:srgbClr val="3A7AFE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Wireframe - Libras</a:t>
            </a:r>
            <a:endParaRPr lang="en-US" sz="3200" b="1">
              <a:solidFill>
                <a:srgbClr val="3A7AFE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73640" y="952500"/>
            <a:ext cx="15340719" cy="745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 b="1">
                <a:solidFill>
                  <a:srgbClr val="3A7AFE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Implementação Técnica (Front-End)</a:t>
            </a:r>
            <a:endParaRPr lang="en-US" sz="4400" b="1">
              <a:solidFill>
                <a:srgbClr val="3A7AFE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3092060" y="2366645"/>
            <a:ext cx="13722299" cy="5487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• Linguagens: HTML5 (Estrutura Semântica), CSS3 (Estilização Separada), JavaScript (Interatividade). </a:t>
            </a:r>
            <a:endParaRPr lang="en-US" sz="26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3640"/>
              </a:lnSpc>
            </a:pPr>
          </a:p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• Framework: Bootstrap 5 (Layout Responsivo e Componentes). </a:t>
            </a:r>
            <a:endParaRPr lang="en-US" sz="26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3640"/>
              </a:lnSpc>
            </a:pPr>
          </a:p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Práticas de Codificação:</a:t>
            </a:r>
            <a:endParaRPr lang="en-US" sz="26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3640"/>
              </a:lnSpc>
            </a:pPr>
          </a:p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• Organização em Pastas. </a:t>
            </a:r>
            <a:endParaRPr lang="en-US" sz="26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3640"/>
              </a:lnSpc>
            </a:pPr>
          </a:p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• Versionamento Contínuo com Git e GitHub. </a:t>
            </a:r>
            <a:endParaRPr lang="en-US" sz="26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3640"/>
              </a:lnSpc>
            </a:pPr>
          </a:p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• Deploy Funcional no GitHub Pages.</a:t>
            </a:r>
            <a:endParaRPr lang="en-US" sz="26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-1403169" y="1028700"/>
            <a:ext cx="11514352" cy="11535325"/>
          </a:xfrm>
          <a:custGeom>
            <a:avLst/>
            <a:gdLst/>
            <a:ahLst/>
            <a:cxnLst/>
            <a:rect l="l" t="t" r="r" b="b"/>
            <a:pathLst>
              <a:path w="11514352" h="11535325">
                <a:moveTo>
                  <a:pt x="0" y="0"/>
                </a:moveTo>
                <a:lnTo>
                  <a:pt x="11514351" y="0"/>
                </a:lnTo>
                <a:lnTo>
                  <a:pt x="11514351" y="11535325"/>
                </a:lnTo>
                <a:lnTo>
                  <a:pt x="0" y="1153532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4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403169" y="1028700"/>
            <a:ext cx="11514352" cy="11535325"/>
          </a:xfrm>
          <a:custGeom>
            <a:avLst/>
            <a:gdLst/>
            <a:ahLst/>
            <a:cxnLst/>
            <a:rect l="l" t="t" r="r" b="b"/>
            <a:pathLst>
              <a:path w="11514352" h="11535325">
                <a:moveTo>
                  <a:pt x="0" y="0"/>
                </a:moveTo>
                <a:lnTo>
                  <a:pt x="11514351" y="0"/>
                </a:lnTo>
                <a:lnTo>
                  <a:pt x="11514351" y="11535325"/>
                </a:lnTo>
                <a:lnTo>
                  <a:pt x="0" y="1153532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4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473640" y="1687625"/>
            <a:ext cx="15340719" cy="745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 b="1">
                <a:solidFill>
                  <a:srgbClr val="3A7AFE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Testes e Manutenção</a:t>
            </a:r>
            <a:endParaRPr lang="en-US" sz="4400" b="1">
              <a:solidFill>
                <a:srgbClr val="3A7AFE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3593772" y="3367736"/>
            <a:ext cx="13034821" cy="4572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• Testes de navegação, responsividade e funcionalidade dos links. </a:t>
            </a:r>
            <a:endParaRPr lang="en-US" sz="26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3640"/>
              </a:lnSpc>
            </a:pPr>
          </a:p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• Revisão ortográfica e de conteúdo. Manutenção (Manual do Administrador): </a:t>
            </a:r>
            <a:endParaRPr lang="en-US" sz="26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3640"/>
              </a:lnSpc>
            </a:pPr>
          </a:p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• Código limpo, comentado e de fácil atualização. </a:t>
            </a:r>
            <a:endParaRPr lang="en-US" sz="26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3640"/>
              </a:lnSpc>
            </a:pPr>
          </a:p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• Ficha Técnica e Histórico de Versões para controle. </a:t>
            </a:r>
            <a:endParaRPr lang="en-US" sz="26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3640"/>
              </a:lnSpc>
            </a:pPr>
          </a:p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• Otimização de imagens e uso de fontes livres para garantir a longevidade do projeto.</a:t>
            </a:r>
            <a:endParaRPr lang="en-US" sz="26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403169" y="1028700"/>
            <a:ext cx="11514352" cy="11535325"/>
          </a:xfrm>
          <a:custGeom>
            <a:avLst/>
            <a:gdLst/>
            <a:ahLst/>
            <a:cxnLst/>
            <a:rect l="l" t="t" r="r" b="b"/>
            <a:pathLst>
              <a:path w="11514352" h="11535325">
                <a:moveTo>
                  <a:pt x="0" y="0"/>
                </a:moveTo>
                <a:lnTo>
                  <a:pt x="11514351" y="0"/>
                </a:lnTo>
                <a:lnTo>
                  <a:pt x="11514351" y="11535325"/>
                </a:lnTo>
                <a:lnTo>
                  <a:pt x="0" y="1153532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4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473640" y="1913817"/>
            <a:ext cx="15340719" cy="745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 b="1">
                <a:solidFill>
                  <a:srgbClr val="3A7AFE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Site</a:t>
            </a:r>
            <a:endParaRPr lang="en-US" sz="4400" b="1">
              <a:solidFill>
                <a:srgbClr val="3A7AFE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3779520" y="4424045"/>
            <a:ext cx="8952230" cy="14001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Link de acesso:</a:t>
            </a:r>
            <a:r>
              <a:rPr lang="pt-BR" altLang="en-US" sz="26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US" altLang="pt-BR" sz="26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espacofabianajora.free.nf</a:t>
            </a:r>
            <a:endParaRPr lang="en-US" altLang="pt-BR" sz="26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3640"/>
              </a:lnSpc>
            </a:pPr>
          </a:p>
          <a:p>
            <a:pPr algn="just">
              <a:lnSpc>
                <a:spcPts val="3640"/>
              </a:lnSpc>
            </a:p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403169" y="1028700"/>
            <a:ext cx="11514352" cy="11535325"/>
          </a:xfrm>
          <a:custGeom>
            <a:avLst/>
            <a:gdLst/>
            <a:ahLst/>
            <a:cxnLst/>
            <a:rect l="l" t="t" r="r" b="b"/>
            <a:pathLst>
              <a:path w="11514352" h="11535325">
                <a:moveTo>
                  <a:pt x="0" y="0"/>
                </a:moveTo>
                <a:lnTo>
                  <a:pt x="11514351" y="0"/>
                </a:lnTo>
                <a:lnTo>
                  <a:pt x="11514351" y="11535325"/>
                </a:lnTo>
                <a:lnTo>
                  <a:pt x="0" y="1153532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4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473640" y="2196558"/>
            <a:ext cx="15340719" cy="745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 b="1">
                <a:solidFill>
                  <a:srgbClr val="3A7AFE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Conclusão</a:t>
            </a:r>
            <a:endParaRPr lang="en-US" sz="4400" b="1">
              <a:solidFill>
                <a:srgbClr val="3A7AFE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3593772" y="4386140"/>
            <a:ext cx="13034821" cy="3201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• O projeto atingiu o objetivo de criar um portfólio digital funcional, de baixo custo e alinhado às necessidades da cliente. </a:t>
            </a:r>
            <a:endParaRPr lang="en-US" sz="26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3640"/>
              </a:lnSpc>
            </a:pPr>
          </a:p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• A metodologia de prototipação evolutiva se mostrou eficaz para validação rápida.</a:t>
            </a:r>
            <a:endParaRPr lang="en-US" sz="26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3640"/>
              </a:lnSpc>
            </a:pPr>
          </a:p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• O uso de tecnologias abertas e gratuitas garantiu a viabilidade econômica.</a:t>
            </a:r>
            <a:endParaRPr lang="en-US" sz="26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4081</Words>
  <Application>WPS Presentation</Application>
  <PresentationFormat>On-screen Show (4:3)</PresentationFormat>
  <Paragraphs>183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2" baseType="lpstr">
      <vt:lpstr>Arial</vt:lpstr>
      <vt:lpstr>SimSun</vt:lpstr>
      <vt:lpstr>Wingdings</vt:lpstr>
      <vt:lpstr>Montserrat Bold</vt:lpstr>
      <vt:lpstr>Poppins</vt:lpstr>
      <vt:lpstr>Arial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PROJETO INTEGRADOR i</dc:title>
  <dc:creator/>
  <cp:lastModifiedBy>denis</cp:lastModifiedBy>
  <cp:revision>2</cp:revision>
  <dcterms:created xsi:type="dcterms:W3CDTF">2006-08-16T00:00:00Z</dcterms:created>
  <dcterms:modified xsi:type="dcterms:W3CDTF">2025-11-28T16:39:08Z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5034790F270A4E9D9487E0A915332451_12</vt:lpwstr>
  </property>
  <property fmtid="{D5CDD505-2E9C-101B-9397-08002B2CF9AE}" pid="3" name="KSOProductBuildVer">
    <vt:lpwstr>1046-12.2.0.23155</vt:lpwstr>
  </property>
</Properties>
</file>